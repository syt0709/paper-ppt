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45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DFB3"/>
    <a:srgbClr val="D8D8D8"/>
    <a:srgbClr val="FFE699"/>
    <a:srgbClr val="F7CAAC"/>
    <a:srgbClr val="BCD6ED"/>
    <a:srgbClr val="4774C4"/>
    <a:srgbClr val="DDEBF6"/>
    <a:srgbClr val="FBE6D9"/>
    <a:srgbClr val="EC7728"/>
    <a:srgbClr val="EC7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3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3C7D5-935E-417D-BBBE-6C43FDE8CC3C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8F141-2893-4404-AE7A-64C8BCC822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3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98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7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21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0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7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1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02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5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3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17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87879-CE35-4BBE-B4E8-3EF2E5B273D4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74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>
            <a:extLst>
              <a:ext uri="{FF2B5EF4-FFF2-40B4-BE49-F238E27FC236}">
                <a16:creationId xmlns:a16="http://schemas.microsoft.com/office/drawing/2014/main" id="{3B033F95-ECFC-44C7-B16D-7D039B8D2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522" y="2205731"/>
            <a:ext cx="16719551" cy="13141570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3F3E88E1-13D4-4E57-9887-0A04DB1588B6}"/>
              </a:ext>
            </a:extLst>
          </p:cNvPr>
          <p:cNvSpPr/>
          <p:nvPr/>
        </p:nvSpPr>
        <p:spPr>
          <a:xfrm>
            <a:off x="757049" y="15624679"/>
            <a:ext cx="8238273" cy="3587236"/>
          </a:xfrm>
          <a:prstGeom prst="rect">
            <a:avLst/>
          </a:prstGeom>
          <a:solidFill>
            <a:srgbClr val="BCD6ED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03289C-8182-42EF-8FD1-F6DB92B92C8B}"/>
              </a:ext>
            </a:extLst>
          </p:cNvPr>
          <p:cNvSpPr/>
          <p:nvPr/>
        </p:nvSpPr>
        <p:spPr>
          <a:xfrm>
            <a:off x="9406397" y="15624679"/>
            <a:ext cx="11552871" cy="3587236"/>
          </a:xfrm>
          <a:prstGeom prst="rect">
            <a:avLst/>
          </a:prstGeom>
          <a:solidFill>
            <a:srgbClr val="BCD6ED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E817A38-70F3-4F07-B584-BDB24B7D694B}"/>
              </a:ext>
            </a:extLst>
          </p:cNvPr>
          <p:cNvSpPr/>
          <p:nvPr/>
        </p:nvSpPr>
        <p:spPr>
          <a:xfrm>
            <a:off x="1052016" y="16746494"/>
            <a:ext cx="369577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7B5774-E177-437E-B59A-3C17897F9579}"/>
              </a:ext>
            </a:extLst>
          </p:cNvPr>
          <p:cNvSpPr/>
          <p:nvPr/>
        </p:nvSpPr>
        <p:spPr>
          <a:xfrm>
            <a:off x="5079730" y="16746494"/>
            <a:ext cx="369577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DCEB49D-61B5-4F9E-91AF-A118C6F8715F}"/>
              </a:ext>
            </a:extLst>
          </p:cNvPr>
          <p:cNvSpPr/>
          <p:nvPr/>
        </p:nvSpPr>
        <p:spPr>
          <a:xfrm>
            <a:off x="1052016" y="18045522"/>
            <a:ext cx="369577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BB54D22-55D7-4BE9-B8C1-DCAB0D39B2D4}"/>
              </a:ext>
            </a:extLst>
          </p:cNvPr>
          <p:cNvSpPr/>
          <p:nvPr/>
        </p:nvSpPr>
        <p:spPr>
          <a:xfrm>
            <a:off x="5079729" y="18024286"/>
            <a:ext cx="369577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FA190CA-AFE6-446C-B481-8009A404ABCE}"/>
              </a:ext>
            </a:extLst>
          </p:cNvPr>
          <p:cNvSpPr/>
          <p:nvPr/>
        </p:nvSpPr>
        <p:spPr>
          <a:xfrm>
            <a:off x="9656646" y="16673924"/>
            <a:ext cx="514954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F275053-5F80-4FA7-97E0-1378DD8E55FC}"/>
              </a:ext>
            </a:extLst>
          </p:cNvPr>
          <p:cNvSpPr/>
          <p:nvPr/>
        </p:nvSpPr>
        <p:spPr>
          <a:xfrm>
            <a:off x="9656646" y="17972952"/>
            <a:ext cx="514954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4A607E8-E237-4EFD-B89E-D62ABAD7D071}"/>
              </a:ext>
            </a:extLst>
          </p:cNvPr>
          <p:cNvSpPr/>
          <p:nvPr/>
        </p:nvSpPr>
        <p:spPr>
          <a:xfrm>
            <a:off x="15233618" y="16673924"/>
            <a:ext cx="514954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2D733EF-9F75-43F5-9250-8F4C54070089}"/>
              </a:ext>
            </a:extLst>
          </p:cNvPr>
          <p:cNvSpPr/>
          <p:nvPr/>
        </p:nvSpPr>
        <p:spPr>
          <a:xfrm>
            <a:off x="15233618" y="17972952"/>
            <a:ext cx="5149541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B2EB7AA-5521-436E-8B2C-3A4D2822D0AB}"/>
              </a:ext>
            </a:extLst>
          </p:cNvPr>
          <p:cNvSpPr/>
          <p:nvPr/>
        </p:nvSpPr>
        <p:spPr>
          <a:xfrm>
            <a:off x="777328" y="27558911"/>
            <a:ext cx="7836994" cy="3808746"/>
          </a:xfrm>
          <a:prstGeom prst="rect">
            <a:avLst/>
          </a:prstGeom>
          <a:solidFill>
            <a:srgbClr val="C4DFB3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342E261-FF79-4AF7-B00B-70C2F58CD929}"/>
              </a:ext>
            </a:extLst>
          </p:cNvPr>
          <p:cNvSpPr/>
          <p:nvPr/>
        </p:nvSpPr>
        <p:spPr>
          <a:xfrm>
            <a:off x="9311728" y="27558911"/>
            <a:ext cx="11647540" cy="3808746"/>
          </a:xfrm>
          <a:prstGeom prst="rect">
            <a:avLst/>
          </a:prstGeom>
          <a:solidFill>
            <a:srgbClr val="D8D8D8"/>
          </a:solidFill>
          <a:ln w="889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0B89F02-26E6-43F9-849D-0A21FE568137}"/>
              </a:ext>
            </a:extLst>
          </p:cNvPr>
          <p:cNvSpPr/>
          <p:nvPr/>
        </p:nvSpPr>
        <p:spPr>
          <a:xfrm>
            <a:off x="777328" y="20262627"/>
            <a:ext cx="20181940" cy="2723030"/>
          </a:xfrm>
          <a:prstGeom prst="rect">
            <a:avLst/>
          </a:prstGeom>
          <a:solidFill>
            <a:srgbClr val="F7CAAC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DB8A371-5DB3-4610-AF21-9D97FBA9A16D}"/>
              </a:ext>
            </a:extLst>
          </p:cNvPr>
          <p:cNvSpPr/>
          <p:nvPr/>
        </p:nvSpPr>
        <p:spPr>
          <a:xfrm>
            <a:off x="777328" y="23910769"/>
            <a:ext cx="20181940" cy="2723030"/>
          </a:xfrm>
          <a:prstGeom prst="rect">
            <a:avLst/>
          </a:prstGeom>
          <a:solidFill>
            <a:srgbClr val="FFE699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063E46B-97BB-4D11-85B7-3074243F3014}"/>
              </a:ext>
            </a:extLst>
          </p:cNvPr>
          <p:cNvSpPr/>
          <p:nvPr/>
        </p:nvSpPr>
        <p:spPr>
          <a:xfrm>
            <a:off x="1153617" y="21748478"/>
            <a:ext cx="3371306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B2D695D-3349-4B36-9B48-75AE9BCCE70B}"/>
              </a:ext>
            </a:extLst>
          </p:cNvPr>
          <p:cNvSpPr/>
          <p:nvPr/>
        </p:nvSpPr>
        <p:spPr>
          <a:xfrm>
            <a:off x="5079728" y="21748478"/>
            <a:ext cx="3598093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BC311BF-0A51-48D6-8EDD-755C881239A0}"/>
              </a:ext>
            </a:extLst>
          </p:cNvPr>
          <p:cNvSpPr/>
          <p:nvPr/>
        </p:nvSpPr>
        <p:spPr>
          <a:xfrm>
            <a:off x="9143726" y="21748478"/>
            <a:ext cx="5820596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7E0C798-5718-4182-AC52-60B812EA44AC}"/>
              </a:ext>
            </a:extLst>
          </p:cNvPr>
          <p:cNvSpPr/>
          <p:nvPr/>
        </p:nvSpPr>
        <p:spPr>
          <a:xfrm>
            <a:off x="15430227" y="21748478"/>
            <a:ext cx="4756698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9AA8E07-D27E-4AB7-AE00-56C0376AB528}"/>
              </a:ext>
            </a:extLst>
          </p:cNvPr>
          <p:cNvSpPr/>
          <p:nvPr/>
        </p:nvSpPr>
        <p:spPr>
          <a:xfrm>
            <a:off x="9143725" y="20541978"/>
            <a:ext cx="11043199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DA03AE5-C3FD-4954-9818-A0633432DC09}"/>
              </a:ext>
            </a:extLst>
          </p:cNvPr>
          <p:cNvSpPr/>
          <p:nvPr/>
        </p:nvSpPr>
        <p:spPr>
          <a:xfrm>
            <a:off x="1271398" y="25425922"/>
            <a:ext cx="6047524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88873C7-F0C9-43FB-ADAB-3FCE4483F34B}"/>
              </a:ext>
            </a:extLst>
          </p:cNvPr>
          <p:cNvSpPr/>
          <p:nvPr/>
        </p:nvSpPr>
        <p:spPr>
          <a:xfrm>
            <a:off x="7767448" y="25425921"/>
            <a:ext cx="5952274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BBFD201-4493-4975-B558-29649BF7ED25}"/>
              </a:ext>
            </a:extLst>
          </p:cNvPr>
          <p:cNvSpPr/>
          <p:nvPr/>
        </p:nvSpPr>
        <p:spPr>
          <a:xfrm>
            <a:off x="14289019" y="25360388"/>
            <a:ext cx="5952274" cy="900629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5523D23-7D7D-4334-8D16-626447059A86}"/>
              </a:ext>
            </a:extLst>
          </p:cNvPr>
          <p:cNvSpPr/>
          <p:nvPr/>
        </p:nvSpPr>
        <p:spPr>
          <a:xfrm>
            <a:off x="1252041" y="28707668"/>
            <a:ext cx="6781256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FA5B653-BAFE-450C-9F9F-3D146DAE44A7}"/>
              </a:ext>
            </a:extLst>
          </p:cNvPr>
          <p:cNvSpPr/>
          <p:nvPr/>
        </p:nvSpPr>
        <p:spPr>
          <a:xfrm>
            <a:off x="1252041" y="29985460"/>
            <a:ext cx="6781256" cy="1000414"/>
          </a:xfrm>
          <a:prstGeom prst="rect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平行四边形 100">
            <a:extLst>
              <a:ext uri="{FF2B5EF4-FFF2-40B4-BE49-F238E27FC236}">
                <a16:creationId xmlns:a16="http://schemas.microsoft.com/office/drawing/2014/main" id="{54D5E9E3-80BF-4938-B170-3480771737FA}"/>
              </a:ext>
            </a:extLst>
          </p:cNvPr>
          <p:cNvSpPr/>
          <p:nvPr/>
        </p:nvSpPr>
        <p:spPr>
          <a:xfrm>
            <a:off x="9916277" y="28751336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" name="平行四边形 101">
            <a:extLst>
              <a:ext uri="{FF2B5EF4-FFF2-40B4-BE49-F238E27FC236}">
                <a16:creationId xmlns:a16="http://schemas.microsoft.com/office/drawing/2014/main" id="{0E3F85E8-55EF-4276-B680-84F6F5EFE38E}"/>
              </a:ext>
            </a:extLst>
          </p:cNvPr>
          <p:cNvSpPr/>
          <p:nvPr/>
        </p:nvSpPr>
        <p:spPr>
          <a:xfrm>
            <a:off x="13415229" y="28751336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平行四边形 102">
            <a:extLst>
              <a:ext uri="{FF2B5EF4-FFF2-40B4-BE49-F238E27FC236}">
                <a16:creationId xmlns:a16="http://schemas.microsoft.com/office/drawing/2014/main" id="{21A52732-62F0-40E6-934F-42D722AB4262}"/>
              </a:ext>
            </a:extLst>
          </p:cNvPr>
          <p:cNvSpPr/>
          <p:nvPr/>
        </p:nvSpPr>
        <p:spPr>
          <a:xfrm>
            <a:off x="9800162" y="30029128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" name="平行四边形 103">
            <a:extLst>
              <a:ext uri="{FF2B5EF4-FFF2-40B4-BE49-F238E27FC236}">
                <a16:creationId xmlns:a16="http://schemas.microsoft.com/office/drawing/2014/main" id="{29430AF1-2217-4480-804E-BEAD066E754E}"/>
              </a:ext>
            </a:extLst>
          </p:cNvPr>
          <p:cNvSpPr/>
          <p:nvPr/>
        </p:nvSpPr>
        <p:spPr>
          <a:xfrm>
            <a:off x="13415227" y="30029128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平行四边形 104">
            <a:extLst>
              <a:ext uri="{FF2B5EF4-FFF2-40B4-BE49-F238E27FC236}">
                <a16:creationId xmlns:a16="http://schemas.microsoft.com/office/drawing/2014/main" id="{FED86CA5-572F-4534-A893-0953D265A31A}"/>
              </a:ext>
            </a:extLst>
          </p:cNvPr>
          <p:cNvSpPr/>
          <p:nvPr/>
        </p:nvSpPr>
        <p:spPr>
          <a:xfrm>
            <a:off x="17021090" y="28751336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平行四边形 105">
            <a:extLst>
              <a:ext uri="{FF2B5EF4-FFF2-40B4-BE49-F238E27FC236}">
                <a16:creationId xmlns:a16="http://schemas.microsoft.com/office/drawing/2014/main" id="{D712983F-2BF5-4C77-BAA3-F17C6EB15525}"/>
              </a:ext>
            </a:extLst>
          </p:cNvPr>
          <p:cNvSpPr/>
          <p:nvPr/>
        </p:nvSpPr>
        <p:spPr>
          <a:xfrm>
            <a:off x="16922305" y="30007294"/>
            <a:ext cx="3231945" cy="956746"/>
          </a:xfrm>
          <a:prstGeom prst="parallelogram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箭头: 右 106">
            <a:extLst>
              <a:ext uri="{FF2B5EF4-FFF2-40B4-BE49-F238E27FC236}">
                <a16:creationId xmlns:a16="http://schemas.microsoft.com/office/drawing/2014/main" id="{F525F8DA-D9B2-47F3-951C-609D0F1238A0}"/>
              </a:ext>
            </a:extLst>
          </p:cNvPr>
          <p:cNvSpPr/>
          <p:nvPr/>
        </p:nvSpPr>
        <p:spPr>
          <a:xfrm rot="16200000">
            <a:off x="4442372" y="19176777"/>
            <a:ext cx="990600" cy="1181100"/>
          </a:xfrm>
          <a:prstGeom prst="rightArrow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箭头: 右 107">
            <a:extLst>
              <a:ext uri="{FF2B5EF4-FFF2-40B4-BE49-F238E27FC236}">
                <a16:creationId xmlns:a16="http://schemas.microsoft.com/office/drawing/2014/main" id="{A5C1A393-C58D-41A0-8E36-EE2A1AC2D671}"/>
              </a:ext>
            </a:extLst>
          </p:cNvPr>
          <p:cNvSpPr/>
          <p:nvPr/>
        </p:nvSpPr>
        <p:spPr>
          <a:xfrm rot="16200000">
            <a:off x="14699669" y="19167681"/>
            <a:ext cx="990603" cy="1181100"/>
          </a:xfrm>
          <a:prstGeom prst="rightArrow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箭头: 右 108">
            <a:extLst>
              <a:ext uri="{FF2B5EF4-FFF2-40B4-BE49-F238E27FC236}">
                <a16:creationId xmlns:a16="http://schemas.microsoft.com/office/drawing/2014/main" id="{83E3C590-C5D7-4766-B61F-E2D1616108B3}"/>
              </a:ext>
            </a:extLst>
          </p:cNvPr>
          <p:cNvSpPr/>
          <p:nvPr/>
        </p:nvSpPr>
        <p:spPr>
          <a:xfrm rot="16200000">
            <a:off x="10221074" y="22857662"/>
            <a:ext cx="860021" cy="1181100"/>
          </a:xfrm>
          <a:prstGeom prst="rightArrow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箭头: 右 109">
            <a:extLst>
              <a:ext uri="{FF2B5EF4-FFF2-40B4-BE49-F238E27FC236}">
                <a16:creationId xmlns:a16="http://schemas.microsoft.com/office/drawing/2014/main" id="{ABBB1754-3435-4A97-8C32-23088EFBF518}"/>
              </a:ext>
            </a:extLst>
          </p:cNvPr>
          <p:cNvSpPr/>
          <p:nvPr/>
        </p:nvSpPr>
        <p:spPr>
          <a:xfrm rot="16200000">
            <a:off x="14534312" y="26521734"/>
            <a:ext cx="860021" cy="1181100"/>
          </a:xfrm>
          <a:prstGeom prst="rightArrow">
            <a:avLst/>
          </a:prstGeom>
          <a:solidFill>
            <a:schemeClr val="bg1"/>
          </a:solidFill>
          <a:ln w="889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7D22AEF4-4F94-4B90-956B-C10767D2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841" y="861911"/>
            <a:ext cx="17576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for Spatio-Temporal Data Science: A Tutorial and Survey</a:t>
            </a:r>
          </a:p>
        </p:txBody>
      </p:sp>
    </p:spTree>
    <p:extLst>
      <p:ext uri="{BB962C8B-B14F-4D97-AF65-F5344CB8AC3E}">
        <p14:creationId xmlns:p14="http://schemas.microsoft.com/office/powerpoint/2010/main" val="297662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0">
          <a:gradFill>
            <a:gsLst>
              <a:gs pos="0">
                <a:srgbClr val="CFDAF1"/>
              </a:gs>
              <a:gs pos="74000">
                <a:srgbClr val="7193D3"/>
              </a:gs>
              <a:gs pos="83000">
                <a:srgbClr val="5B86CB"/>
              </a:gs>
              <a:gs pos="100000">
                <a:srgbClr val="517CC8"/>
              </a:gs>
            </a:gsLst>
            <a:lin ang="5400000" scaled="1"/>
          </a:gradFill>
          <a:headEnd type="none" w="med" len="med"/>
          <a:tailEnd type="none" w="med" len="med"/>
        </a:ln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</TotalTime>
  <Words>13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佳慧 王</cp:lastModifiedBy>
  <cp:revision>124</cp:revision>
  <dcterms:created xsi:type="dcterms:W3CDTF">2025-06-25T00:24:40Z</dcterms:created>
  <dcterms:modified xsi:type="dcterms:W3CDTF">2025-09-25T12:49:02Z</dcterms:modified>
</cp:coreProperties>
</file>